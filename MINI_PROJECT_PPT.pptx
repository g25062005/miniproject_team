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notesMasterIdLst>
    <p:notesMasterId r:id="rId28"/>
  </p:notesMasterIdLst>
  <p:sldIdLst>
    <p:sldId id="28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6C6EB-6566-43E8-A9C7-BDD75032C1D7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82AE7-31E3-4D6A-B8B8-5A1A6B742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129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82AE7-31E3-4D6A-B8B8-5A1A6B7423E9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228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FFFC-1352-456E-9139-1C25C54C1AD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A6AD-1D10-41C9-BE46-F0D48CE73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203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FFFC-1352-456E-9139-1C25C54C1AD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A6AD-1D10-41C9-BE46-F0D48CE73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088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FFFC-1352-456E-9139-1C25C54C1AD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A6AD-1D10-41C9-BE46-F0D48CE73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411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FFFC-1352-456E-9139-1C25C54C1AD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A6AD-1D10-41C9-BE46-F0D48CE73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057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FFFC-1352-456E-9139-1C25C54C1AD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A6AD-1D10-41C9-BE46-F0D48CE73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FFFC-1352-456E-9139-1C25C54C1AD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A6AD-1D10-41C9-BE46-F0D48CE73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190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FFFC-1352-456E-9139-1C25C54C1AD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A6AD-1D10-41C9-BE46-F0D48CE73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455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FFFC-1352-456E-9139-1C25C54C1AD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A6AD-1D10-41C9-BE46-F0D48CE73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532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A6AD-1D10-41C9-BE46-F0D48CE73107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FFFC-1352-456E-9139-1C25C54C1AD2}" type="datetimeFigureOut">
              <a:rPr lang="en-IN" smtClean="0"/>
              <a:t>29-12-2025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819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FFFC-1352-456E-9139-1C25C54C1AD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A6AD-1D10-41C9-BE46-F0D48CE73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41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FFFC-1352-456E-9139-1C25C54C1AD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A6AD-1D10-41C9-BE46-F0D48CE7310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3564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FFFC-1352-456E-9139-1C25C54C1AD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A6AD-1D10-41C9-BE46-F0D48CE73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575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FFFC-1352-456E-9139-1C25C54C1AD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A6AD-1D10-41C9-BE46-F0D48CE7310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87436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FFFC-1352-456E-9139-1C25C54C1AD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A6AD-1D10-41C9-BE46-F0D48CE73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5830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FFFC-1352-456E-9139-1C25C54C1AD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A6AD-1D10-41C9-BE46-F0D48CE73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607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FFFC-1352-456E-9139-1C25C54C1AD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A6AD-1D10-41C9-BE46-F0D48CE73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860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4FFFC-1352-456E-9139-1C25C54C1AD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599A6AD-1D10-41C9-BE46-F0D48CE73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44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4675FD-20D6-5BC6-6D7F-6961CB295868}"/>
              </a:ext>
            </a:extLst>
          </p:cNvPr>
          <p:cNvSpPr txBox="1"/>
          <p:nvPr/>
        </p:nvSpPr>
        <p:spPr>
          <a:xfrm>
            <a:off x="700480" y="259788"/>
            <a:ext cx="97102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Malnad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College of Engineering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 under Visvesvaraya Technological University,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Belgaum) Hassan – 573201, Karnataka, India                    </a:t>
            </a:r>
            <a:endParaRPr lang="en-I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3DB24B-DE98-3E3D-837F-1054D10E1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" y="144105"/>
            <a:ext cx="1384603" cy="14644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6AD754-5502-8425-C49C-BD8D007D6CC9}"/>
              </a:ext>
            </a:extLst>
          </p:cNvPr>
          <p:cNvSpPr txBox="1"/>
          <p:nvPr/>
        </p:nvSpPr>
        <p:spPr>
          <a:xfrm>
            <a:off x="3166844" y="1822021"/>
            <a:ext cx="6098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Mini Project (23IS506)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F15384-B89C-2FCF-B12A-024A126CCFA7}"/>
              </a:ext>
            </a:extLst>
          </p:cNvPr>
          <p:cNvSpPr txBox="1"/>
          <p:nvPr/>
        </p:nvSpPr>
        <p:spPr>
          <a:xfrm>
            <a:off x="1881230" y="2363900"/>
            <a:ext cx="809537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Automated Screening and Prognosis of ALL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Using Deep Learning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9456E1-FBA1-3019-4857-E24BFC35941C}"/>
              </a:ext>
            </a:extLst>
          </p:cNvPr>
          <p:cNvSpPr txBox="1"/>
          <p:nvPr/>
        </p:nvSpPr>
        <p:spPr>
          <a:xfrm>
            <a:off x="2655115" y="3429000"/>
            <a:ext cx="654760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Mrs. Sindhu K 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Assistant Professor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Department of Information Science and Engineering                        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Malnad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College of Engineering</a:t>
            </a:r>
          </a:p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Hassan – 573201</a:t>
            </a:r>
          </a:p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2025 - 2026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2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D68A73-EED5-58E8-6901-FD46D0317ACC}"/>
              </a:ext>
            </a:extLst>
          </p:cNvPr>
          <p:cNvSpPr txBox="1"/>
          <p:nvPr/>
        </p:nvSpPr>
        <p:spPr>
          <a:xfrm>
            <a:off x="335560" y="337943"/>
            <a:ext cx="9789952" cy="506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Leukemia diagnosis relies on visual inspection of blood smear slides, which is slow and depends on expert availability—especially difficult in busy or rural hospitals.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screening is affected by staining quality, lighting, and cell overlap, which can lead to mistakes or missed early signs of cancer.</a:t>
            </a:r>
          </a:p>
          <a:p>
            <a:pPr>
              <a:lnSpc>
                <a:spcPct val="20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Attention-Based MIL?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Learns from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bag-level labels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need for expert annotations.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Attention highlights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cell regions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predictions explainable.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More consistent than traditional CNNs across imaging and slide variations.</a:t>
            </a:r>
          </a:p>
        </p:txBody>
      </p:sp>
    </p:spTree>
    <p:extLst>
      <p:ext uri="{BB962C8B-B14F-4D97-AF65-F5344CB8AC3E}">
        <p14:creationId xmlns:p14="http://schemas.microsoft.com/office/powerpoint/2010/main" val="367951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527A8B-7047-7100-C8CA-0DAC247E84AE}"/>
              </a:ext>
            </a:extLst>
          </p:cNvPr>
          <p:cNvSpPr txBox="1"/>
          <p:nvPr/>
        </p:nvSpPr>
        <p:spPr>
          <a:xfrm>
            <a:off x="369115" y="226503"/>
            <a:ext cx="9672507" cy="4894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Leukemia diagnosis is still done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expert-dependent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affected by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staining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 overlap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leads 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sometimes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detection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this, we need an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Attention-Based Multiple Instance Learning (MIL)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leukemia indicators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blood smear image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needing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cell-level labels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the detection process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accurate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medical use.</a:t>
            </a:r>
          </a:p>
        </p:txBody>
      </p:sp>
    </p:spTree>
    <p:extLst>
      <p:ext uri="{BB962C8B-B14F-4D97-AF65-F5344CB8AC3E}">
        <p14:creationId xmlns:p14="http://schemas.microsoft.com/office/powerpoint/2010/main" val="3141035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02821-1022-A6EE-8CC8-428B15356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BA3732-CB5E-CBCF-5289-067088F56F04}"/>
              </a:ext>
            </a:extLst>
          </p:cNvPr>
          <p:cNvSpPr txBox="1"/>
          <p:nvPr/>
        </p:nvSpPr>
        <p:spPr>
          <a:xfrm>
            <a:off x="226503" y="260058"/>
            <a:ext cx="10419125" cy="5802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PREVIOUS WORK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Reviewed research on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CNN-based leukemia screening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algorithms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Studied challenges like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 cost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variability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interpretability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Identified gap: need for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clinical decision-making</a:t>
            </a:r>
          </a:p>
          <a:p>
            <a:pPr>
              <a:lnSpc>
                <a:spcPct val="150000"/>
              </a:lnSpc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Submission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Documented feasibility of using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 without cell-level labels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Highlighted benefits of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heatmaps for doctor validation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Submitted paper outlining proposed pipeline and results for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evaluation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Feedback received: approach is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practical, scalable, and clinically relevant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635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DBF13-0461-FA33-DD03-728DC844C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5B3D01-DC2A-20F4-D03A-A9EA7967FA22}"/>
              </a:ext>
            </a:extLst>
          </p:cNvPr>
          <p:cNvSpPr txBox="1"/>
          <p:nvPr/>
        </p:nvSpPr>
        <p:spPr>
          <a:xfrm>
            <a:off x="444617" y="201336"/>
            <a:ext cx="10813409" cy="547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lnSpc>
                <a:spcPct val="2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Techniques — Hardware (For Leukemia Detection)</a:t>
            </a:r>
          </a:p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Microscope – Olympus CX43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capture blood smear images for training the MIL model.</a:t>
            </a:r>
          </a:p>
          <a:p>
            <a:pPr>
              <a:lnSpc>
                <a:spcPct val="150000"/>
              </a:lnSpc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40X / 100X magnification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observing blood cell morphology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brightfield illumination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stain clarity and uniform contrast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camera attachment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record high-resolution cell images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USB/HDMI output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transferring images to preprocessing system</a:t>
            </a:r>
          </a:p>
        </p:txBody>
      </p:sp>
    </p:spTree>
    <p:extLst>
      <p:ext uri="{BB962C8B-B14F-4D97-AF65-F5344CB8AC3E}">
        <p14:creationId xmlns:p14="http://schemas.microsoft.com/office/powerpoint/2010/main" val="3955226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00847-122A-641D-4381-83C7505B1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0D013D-9111-7398-C153-771BF3312EFA}"/>
              </a:ext>
            </a:extLst>
          </p:cNvPr>
          <p:cNvSpPr txBox="1"/>
          <p:nvPr/>
        </p:nvSpPr>
        <p:spPr>
          <a:xfrm>
            <a:off x="696286" y="327171"/>
            <a:ext cx="8451908" cy="257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in this project:</a:t>
            </a:r>
          </a:p>
          <a:p>
            <a:pPr>
              <a:lnSpc>
                <a:spcPct val="150000"/>
              </a:lnSpc>
              <a:buNone/>
            </a:pP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clear features of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blast cells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analysis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consistent imaging required for MIL training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Enables extraction of patches for bag-based dataset creation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3AB6AD-101E-0D82-FC58-48A0CEA7F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570681"/>
              </p:ext>
            </p:extLst>
          </p:nvPr>
        </p:nvGraphicFramePr>
        <p:xfrm>
          <a:off x="759204" y="3797606"/>
          <a:ext cx="8128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6965334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02472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7912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98.50%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9597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624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Recall (Sensitivity)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97%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333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Specificity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470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0152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ROC-AUC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0.95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612209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CFE5515-58BB-EEAE-3E3A-ABAD2CC2CCE1}"/>
              </a:ext>
            </a:extLst>
          </p:cNvPr>
          <p:cNvSpPr txBox="1"/>
          <p:nvPr/>
        </p:nvSpPr>
        <p:spPr>
          <a:xfrm>
            <a:off x="759204" y="3101519"/>
            <a:ext cx="609879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</a:p>
        </p:txBody>
      </p:sp>
    </p:spTree>
    <p:extLst>
      <p:ext uri="{BB962C8B-B14F-4D97-AF65-F5344CB8AC3E}">
        <p14:creationId xmlns:p14="http://schemas.microsoft.com/office/powerpoint/2010/main" val="836229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A1BEF-501B-1127-9DCA-A6F07DF8A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9FB836-0688-55D8-5C51-EE43A423D8E2}"/>
              </a:ext>
            </a:extLst>
          </p:cNvPr>
          <p:cNvSpPr txBox="1"/>
          <p:nvPr/>
        </p:nvSpPr>
        <p:spPr>
          <a:xfrm>
            <a:off x="419449" y="276837"/>
            <a:ext cx="11459362" cy="6586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Libraries</a:t>
            </a: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(Open Source Computer Vision Library)</a:t>
            </a:r>
          </a:p>
          <a:p>
            <a:pPr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is used for medical image preprocessing and patch generation in this project. It supports essential image operations required before training the MIL model.</a:t>
            </a:r>
          </a:p>
          <a:p>
            <a:pPr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Image loading and format conversion (JPEG → tensor)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Preprocessing: resizing, normalization, noise removal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Patch extraction (splitting slides into 64×64 image tiles)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Contrast improvement and stain normalization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Contour/region processing for cell boundary enhancement</a:t>
            </a:r>
          </a:p>
          <a:p>
            <a:pPr>
              <a:lnSpc>
                <a:spcPct val="150000"/>
              </a:lnSpc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leukemia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detection, OpenCV helps prepare blood smear images into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training inputs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2483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76BEA-8EEF-0596-8A9B-A1DE3FFC7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B26D12-745C-3977-3571-839C3F9EB36D}"/>
              </a:ext>
            </a:extLst>
          </p:cNvPr>
          <p:cNvSpPr txBox="1"/>
          <p:nvPr/>
        </p:nvSpPr>
        <p:spPr>
          <a:xfrm>
            <a:off x="293615" y="402672"/>
            <a:ext cx="11157357" cy="527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main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framework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building the Attention-Based MIL model.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Building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feature extractor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Implementing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mechanism &amp; MIL pooling layer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 training, validation, and weight optimization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GPU acceleration for faster computation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Saving and loading model files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mil_all_classifier.pth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the core architecture that learns from image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cell-level labels.</a:t>
            </a:r>
          </a:p>
        </p:txBody>
      </p:sp>
    </p:spTree>
    <p:extLst>
      <p:ext uri="{BB962C8B-B14F-4D97-AF65-F5344CB8AC3E}">
        <p14:creationId xmlns:p14="http://schemas.microsoft.com/office/powerpoint/2010/main" val="3848295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3247B-1F06-E75F-8906-AA0FFA934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E3FA95-593C-FF10-7DEF-04AD4A7EC1B6}"/>
              </a:ext>
            </a:extLst>
          </p:cNvPr>
          <p:cNvSpPr txBox="1"/>
          <p:nvPr/>
        </p:nvSpPr>
        <p:spPr>
          <a:xfrm>
            <a:off x="444617" y="461394"/>
            <a:ext cx="9328557" cy="303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(NumPy, Pandas, Matplotlib)</a:t>
            </a: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Numerical operations, tensor manipulation, patch arrays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handling, storing bag/label mappings, evaluation logs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Plotting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accuracy/loss graphs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visualizing attention heatmaps</a:t>
            </a:r>
          </a:p>
          <a:p>
            <a:pPr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libraries help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data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model performance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1672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17E18-B8E6-6CB7-2F49-A25EE20FB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EC806C-696B-55B5-B16D-6D80BE451A48}"/>
              </a:ext>
            </a:extLst>
          </p:cNvPr>
          <p:cNvSpPr txBox="1"/>
          <p:nvPr/>
        </p:nvSpPr>
        <p:spPr>
          <a:xfrm>
            <a:off x="587229" y="494950"/>
            <a:ext cx="8560965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build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prediction.</a:t>
            </a:r>
          </a:p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Uploading image bags and running inference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Displaying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attention scores, and prediction results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Exporting diagnostic output for medical review</a:t>
            </a:r>
          </a:p>
          <a:p>
            <a:pPr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hospital-friendly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 deployment.</a:t>
            </a:r>
          </a:p>
        </p:txBody>
      </p:sp>
    </p:spTree>
    <p:extLst>
      <p:ext uri="{BB962C8B-B14F-4D97-AF65-F5344CB8AC3E}">
        <p14:creationId xmlns:p14="http://schemas.microsoft.com/office/powerpoint/2010/main" val="25486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EB11E-2AEA-7D9D-A587-8588924EB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8B8C4F-1AA2-9834-0B2C-3C8E8BBB7BC6}"/>
              </a:ext>
            </a:extLst>
          </p:cNvPr>
          <p:cNvSpPr txBox="1"/>
          <p:nvPr/>
        </p:nvSpPr>
        <p:spPr>
          <a:xfrm>
            <a:off x="587230" y="453006"/>
            <a:ext cx="10377182" cy="4186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Techniques</a:t>
            </a:r>
          </a:p>
          <a:p>
            <a:pPr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Attention-Based MIL Model: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CNN for feature extraction + attention layer for bag prediction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Resize (64×64), stain normalization, Gaussian blur, normalization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Rotation, zoom, flipping, brightness changes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Pre-trained CNN backbone, MIL layers trained on smear images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Balanced bags + weighted loss to reduce false negatives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Accuracy, Precision, Recall, F1-Score, 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1619003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6C84A-D964-55E6-BF7B-CB799E0D9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8F90B3-4DA0-13DD-018D-EAEC058568E3}"/>
              </a:ext>
            </a:extLst>
          </p:cNvPr>
          <p:cNvSpPr txBox="1"/>
          <p:nvPr/>
        </p:nvSpPr>
        <p:spPr>
          <a:xfrm>
            <a:off x="708869" y="237762"/>
            <a:ext cx="726067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Components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CNN Backbone (Transfer Learning)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Feature extraction for smear images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Pre-trained layers frozen for stability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Adapted for MIL feature extraction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Image Enhancement Pipeline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Stain normalization + contrast adjustments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Gaussian blur for noise reduction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Normalize pixel values to [0,1]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 Augmentation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Rotation, shift, zoom, flip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Improves model generalization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Handles microscope orientation variation</a:t>
            </a:r>
          </a:p>
        </p:txBody>
      </p:sp>
    </p:spTree>
    <p:extLst>
      <p:ext uri="{BB962C8B-B14F-4D97-AF65-F5344CB8AC3E}">
        <p14:creationId xmlns:p14="http://schemas.microsoft.com/office/powerpoint/2010/main" val="213488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37004-668D-D2F0-1704-F02E8E55B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3A75E5-5883-6026-5626-E5E93E17021B}"/>
              </a:ext>
            </a:extLst>
          </p:cNvPr>
          <p:cNvSpPr txBox="1"/>
          <p:nvPr/>
        </p:nvSpPr>
        <p:spPr>
          <a:xfrm>
            <a:off x="453006" y="352338"/>
            <a:ext cx="8695188" cy="506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Process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Collected blood smear images, created bags for MIL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Attention-Based MIL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with CNN backbone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feature extraction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Preprocessing + augmentation for stability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Tuned hyperparameters + class balancing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Trained and monitored accuracy/recall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Deployed model using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prediction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775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802D3-A3B3-5F81-8471-913A53C64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16AE74-F97A-7A6E-384E-A51FE047ABAB}"/>
              </a:ext>
            </a:extLst>
          </p:cNvPr>
          <p:cNvSpPr txBox="1"/>
          <p:nvPr/>
        </p:nvSpPr>
        <p:spPr>
          <a:xfrm>
            <a:off x="624979" y="284144"/>
            <a:ext cx="9727036" cy="381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Blood smear images collected from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datasets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verified lab sources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Captured using a digital microscope and prepared as MIL bags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dataset: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400 bags (200 ALL, 200 Normal) with 20 patches per bag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 size: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64×64 pixels, created for MIL training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Includes variations in slide quality, staining, and lighting for real-world reliability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 samples recorded with label source for transparency and dataset validation</a:t>
            </a:r>
          </a:p>
        </p:txBody>
      </p:sp>
    </p:spTree>
    <p:extLst>
      <p:ext uri="{BB962C8B-B14F-4D97-AF65-F5344CB8AC3E}">
        <p14:creationId xmlns:p14="http://schemas.microsoft.com/office/powerpoint/2010/main" val="460771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5ACE2-76CE-E1CA-0258-FDBE36341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EA308D-544F-37A1-5925-DE5C2E411EAE}"/>
              </a:ext>
            </a:extLst>
          </p:cNvPr>
          <p:cNvSpPr txBox="1"/>
          <p:nvPr/>
        </p:nvSpPr>
        <p:spPr>
          <a:xfrm>
            <a:off x="411061" y="377506"/>
            <a:ext cx="8737133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Phase –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Leukemia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Model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Structure: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MIL bags created for ALL (Positive) and Normal (Negative) classes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Each bag contains 20 patches (64×64) from blood smear slides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Weakly supervised setup enables learning without cell-level labels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400 bags total; training, validation, and test sets used for monitoring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Folder Structure:</a:t>
            </a:r>
          </a:p>
          <a:p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dataset_bags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├── ALL/      (Positive Bags)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├── Normal/   (Negative Bags)</a:t>
            </a:r>
          </a:p>
        </p:txBody>
      </p:sp>
    </p:spTree>
    <p:extLst>
      <p:ext uri="{BB962C8B-B14F-4D97-AF65-F5344CB8AC3E}">
        <p14:creationId xmlns:p14="http://schemas.microsoft.com/office/powerpoint/2010/main" val="2528181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EEED9-0FB8-DC2E-4522-988F8514B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74F7E5-14AE-BAB2-A317-B1CF33030345}"/>
              </a:ext>
            </a:extLst>
          </p:cNvPr>
          <p:cNvSpPr txBox="1"/>
          <p:nvPr/>
        </p:nvSpPr>
        <p:spPr>
          <a:xfrm>
            <a:off x="591423" y="258978"/>
            <a:ext cx="8544188" cy="5048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Model Architecture: Attention-Based MIL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CNN backbone used for feature extraction (pre-trained, frozen initially)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Input patches resized to (64,64,3) after preprocessing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Added layers: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Feature embedding layer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Attention layer for patch importance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MIL pooling layer for bag representation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Sigmoid output for ALL / Normal classification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MIL approach supports training without cell-level labels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Optional fine-tuning: backbone can be unfrozen for improved accuracy</a:t>
            </a:r>
          </a:p>
        </p:txBody>
      </p:sp>
    </p:spTree>
    <p:extLst>
      <p:ext uri="{BB962C8B-B14F-4D97-AF65-F5344CB8AC3E}">
        <p14:creationId xmlns:p14="http://schemas.microsoft.com/office/powerpoint/2010/main" val="3063143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128C8-A147-7889-FEF0-70F81EE0D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E429095-7584-00FD-9365-D4F708E283EA}"/>
              </a:ext>
            </a:extLst>
          </p:cNvPr>
          <p:cNvSpPr txBox="1"/>
          <p:nvPr/>
        </p:nvSpPr>
        <p:spPr>
          <a:xfrm>
            <a:off x="805343" y="310393"/>
            <a:ext cx="8594521" cy="5448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Image Preprocessing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Resize patches to 64×64 for consistent input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Stain normalization to reduce color variation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Gaussian blur to remove noise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Contrast enhancement to highlight blast cells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Normalize pixel values to [0,1] for stable training</a:t>
            </a:r>
          </a:p>
          <a:p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 Extraction Pipeline: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 bags of 20 patches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On-the-fly augmentation (rotation, zoom, flip)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memory usage and improves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2316647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5256D-B04E-152C-2214-7A1FD5435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DC4A2B-A732-E267-54E4-40989D81797C}"/>
              </a:ext>
            </a:extLst>
          </p:cNvPr>
          <p:cNvSpPr txBox="1"/>
          <p:nvPr/>
        </p:nvSpPr>
        <p:spPr>
          <a:xfrm>
            <a:off x="616590" y="143100"/>
            <a:ext cx="11102830" cy="65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Training Parameters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training parameters guide how the model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updates weights, and avoids overfitting while detecting leukemia from image bags.</a:t>
            </a:r>
          </a:p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Parameters Used:</a:t>
            </a:r>
          </a:p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Batch Size: 4 bags per batch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batch size allows diverse gradients and helps the MIL model adapt better to variation in smear images.</a:t>
            </a:r>
          </a:p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Epochs + Early Stopping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monitored with early stopping to avoid overfitting. Training stops when validation accuracy no longer improves.</a:t>
            </a:r>
          </a:p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Optimizer: Adam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Adjusts learning rate automatically, leading to faster and stable convergence — ideal for CNN + attention models.</a:t>
            </a:r>
          </a:p>
        </p:txBody>
      </p:sp>
    </p:spTree>
    <p:extLst>
      <p:ext uri="{BB962C8B-B14F-4D97-AF65-F5344CB8AC3E}">
        <p14:creationId xmlns:p14="http://schemas.microsoft.com/office/powerpoint/2010/main" val="305206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D15D3-5E8F-6A03-0DE9-D0A7103DF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888618-3CA5-236C-41A3-8FBF411C48E1}"/>
              </a:ext>
            </a:extLst>
          </p:cNvPr>
          <p:cNvSpPr txBox="1"/>
          <p:nvPr/>
        </p:nvSpPr>
        <p:spPr>
          <a:xfrm>
            <a:off x="620085" y="255188"/>
            <a:ext cx="10951829" cy="3078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Loss Function: Binary Cross-Entropy (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BCEWithLogitsLoss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two-class classification (ALL vs Normal)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measures how well predicted bag labels match true labels.</a:t>
            </a:r>
          </a:p>
          <a:p>
            <a:pPr>
              <a:lnSpc>
                <a:spcPct val="15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Validation Split: 20%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Portion of data used to monitor performance during training, tune hyperparameters, and avoid data leakage.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090C91D-6BAC-75A3-19EA-F3F793C81E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544612"/>
              </p:ext>
            </p:extLst>
          </p:nvPr>
        </p:nvGraphicFramePr>
        <p:xfrm>
          <a:off x="714927" y="3524277"/>
          <a:ext cx="8789800" cy="2935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4900">
                  <a:extLst>
                    <a:ext uri="{9D8B030D-6E8A-4147-A177-3AD203B41FA5}">
                      <a16:colId xmlns:a16="http://schemas.microsoft.com/office/drawing/2014/main" val="3927865595"/>
                    </a:ext>
                  </a:extLst>
                </a:gridCol>
                <a:gridCol w="4394900">
                  <a:extLst>
                    <a:ext uri="{9D8B030D-6E8A-4147-A177-3AD203B41FA5}">
                      <a16:colId xmlns:a16="http://schemas.microsoft.com/office/drawing/2014/main" val="1522998269"/>
                    </a:ext>
                  </a:extLst>
                </a:gridCol>
              </a:tblGrid>
              <a:tr h="489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 / 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7756752"/>
                  </a:ext>
                </a:extLst>
              </a:tr>
              <a:tr h="489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Batch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 bags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8552973"/>
                  </a:ext>
                </a:extLst>
              </a:tr>
              <a:tr h="489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Epochs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30–50 (with early stopping)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237452"/>
                  </a:ext>
                </a:extLst>
              </a:tr>
              <a:tr h="489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Optimizer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4511904"/>
                  </a:ext>
                </a:extLst>
              </a:tr>
              <a:tr h="489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Loss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BCEWithLogitsLoss (binary)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406529"/>
                  </a:ext>
                </a:extLst>
              </a:tr>
              <a:tr h="489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Validation 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8331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0242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AF40B-D6D9-F82D-EEEA-052E0C4AA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CD6933-BEBE-7EEF-F39F-72CB3164CED3}"/>
              </a:ext>
            </a:extLst>
          </p:cNvPr>
          <p:cNvSpPr txBox="1"/>
          <p:nvPr/>
        </p:nvSpPr>
        <p:spPr>
          <a:xfrm>
            <a:off x="499144" y="284145"/>
            <a:ext cx="9290807" cy="4790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Training Enhancements (For Leukemia MIL Model)</a:t>
            </a:r>
          </a:p>
          <a:p>
            <a:pPr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Stops training when validation loss stops improving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➡ Prevents the model from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 to medical images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 Scheduler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Reduces learning rate when progress slows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➡ Helps the model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 cell feature weights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accurately</a:t>
            </a:r>
          </a:p>
          <a:p>
            <a:pPr>
              <a:lnSpc>
                <a:spcPct val="20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Checkpointing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Saves the best model during training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➡ Ensures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saved model is the most accurate version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1273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A39A52-0ED2-898E-1A47-221845695AC7}"/>
              </a:ext>
            </a:extLst>
          </p:cNvPr>
          <p:cNvSpPr txBox="1"/>
          <p:nvPr/>
        </p:nvSpPr>
        <p:spPr>
          <a:xfrm>
            <a:off x="327171" y="251670"/>
            <a:ext cx="10947633" cy="6063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Model Saving: Preserving Learned Knowledge</a:t>
            </a:r>
          </a:p>
          <a:p>
            <a:pPr>
              <a:lnSpc>
                <a:spcPct val="150000"/>
              </a:lnSpc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Saving Model Architecture (.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checkpoint)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+ layers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Attention-Based MIL model, so it can be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reloaded exactly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rebuilding the network structure again.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Saving Model Weights (.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all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parameters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(CNN backbone weights + attention weights) after training.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➡ This allows the model to be reused for classification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retraining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matters?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No need to train again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Consistent results in future predictions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Easy deployment in hospitals or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</a:t>
            </a:r>
          </a:p>
        </p:txBody>
      </p:sp>
    </p:spTree>
    <p:extLst>
      <p:ext uri="{BB962C8B-B14F-4D97-AF65-F5344CB8AC3E}">
        <p14:creationId xmlns:p14="http://schemas.microsoft.com/office/powerpoint/2010/main" val="23996074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6CEBC-73DA-1E77-94CB-3AD9B8614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62D0DE-07AD-82B2-DDF6-2DC3D44FFF30}"/>
              </a:ext>
            </a:extLst>
          </p:cNvPr>
          <p:cNvSpPr txBox="1"/>
          <p:nvPr/>
        </p:nvSpPr>
        <p:spPr>
          <a:xfrm>
            <a:off x="465588" y="0"/>
            <a:ext cx="10834382" cy="6525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Applications</a:t>
            </a:r>
          </a:p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Clinical Decision Support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doctors in early screening and diagnosis of Acute Lymphoblastic Leukemia (ALL).</a:t>
            </a:r>
          </a:p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Hospital Automation Systems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with pathology labs for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slide analysis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automated report assistance.</a:t>
            </a:r>
          </a:p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Remote &amp; Telemedicine Diagnosis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areas lacking specialist hematologists; doctors can upload slides for analysis remotely.</a:t>
            </a:r>
          </a:p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Research &amp; Medical Training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Assists students and researchers in understanding cell morphology and automated cancer diagnostics.</a:t>
            </a:r>
          </a:p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Diagnostics in Developing Regions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AI support for clinics with limited laboratory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1924050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987A7-262A-6426-00F8-21D64BBE6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00AAE4-0B1F-E355-5F1A-49A09B553FF1}"/>
              </a:ext>
            </a:extLst>
          </p:cNvPr>
          <p:cNvSpPr txBox="1"/>
          <p:nvPr/>
        </p:nvSpPr>
        <p:spPr>
          <a:xfrm>
            <a:off x="541089" y="91197"/>
            <a:ext cx="10700159" cy="6217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&amp; Impact</a:t>
            </a:r>
          </a:p>
          <a:p>
            <a:pPr>
              <a:lnSpc>
                <a:spcPct val="15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Integration with Emerging Technologies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with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pathology tools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cloud-based diagnostics, and mobile microscope attachments.</a:t>
            </a:r>
          </a:p>
          <a:p>
            <a:pPr>
              <a:lnSpc>
                <a:spcPct val="15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Real-time Performance Enhancements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model speed for usage in clinics, potentially processing results during patient appointments.</a:t>
            </a:r>
          </a:p>
          <a:p>
            <a:pPr>
              <a:lnSpc>
                <a:spcPct val="15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Multi-Class Classification Expansion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beyond ALL vs Normal to other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leukemia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subtypes (AML, CLL, CML).</a:t>
            </a:r>
          </a:p>
          <a:p>
            <a:pPr>
              <a:lnSpc>
                <a:spcPct val="15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Advanced Model Architectures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MIL + Transformers / Vision Transformers (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improved explainability and performance.</a:t>
            </a:r>
          </a:p>
        </p:txBody>
      </p:sp>
    </p:spTree>
    <p:extLst>
      <p:ext uri="{BB962C8B-B14F-4D97-AF65-F5344CB8AC3E}">
        <p14:creationId xmlns:p14="http://schemas.microsoft.com/office/powerpoint/2010/main" val="16907068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3F783-E493-5073-4A26-FE1A0C82E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9039AA-9123-1B4F-8E80-BA80C7CDB66E}"/>
              </a:ext>
            </a:extLst>
          </p:cNvPr>
          <p:cNvSpPr txBox="1"/>
          <p:nvPr/>
        </p:nvSpPr>
        <p:spPr>
          <a:xfrm>
            <a:off x="624980" y="0"/>
            <a:ext cx="6098796" cy="2820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Commercial &amp; Social Impact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Affordable diagnostic support for rural hospitals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Faster screening may reduce mortality rate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workload for medical professionals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9756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A3893-794F-9A0F-5E04-33FC9D2EC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BC9885-9172-BB46-6F08-AFC10D871B88}"/>
              </a:ext>
            </a:extLst>
          </p:cNvPr>
          <p:cNvSpPr txBox="1"/>
          <p:nvPr/>
        </p:nvSpPr>
        <p:spPr>
          <a:xfrm>
            <a:off x="343947" y="115716"/>
            <a:ext cx="11132192" cy="5848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Implementation: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an attention-based MIL model to detect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leukemia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blood smear images.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Innovation: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+ Attention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explainable predictions with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clinical clarity.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Application: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support doctors in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screening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assist diagnostic workflows.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Future-Ready: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for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multi-class detection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integration into hospital systems.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step toward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leukemia diagnosis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faster and more reliable results.</a:t>
            </a:r>
          </a:p>
        </p:txBody>
      </p:sp>
    </p:spTree>
    <p:extLst>
      <p:ext uri="{BB962C8B-B14F-4D97-AF65-F5344CB8AC3E}">
        <p14:creationId xmlns:p14="http://schemas.microsoft.com/office/powerpoint/2010/main" val="36248384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AB962-C66C-21CD-AB34-AE34461C6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DAA424D-66B9-AAC9-D67B-ED3E5FBA4A7C}"/>
              </a:ext>
            </a:extLst>
          </p:cNvPr>
          <p:cNvSpPr txBox="1"/>
          <p:nvPr/>
        </p:nvSpPr>
        <p:spPr>
          <a:xfrm>
            <a:off x="2688671" y="1459575"/>
            <a:ext cx="609879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       </a:t>
            </a:r>
          </a:p>
          <a:p>
            <a:r>
              <a:rPr lang="en-IN" sz="1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YOU</a:t>
            </a:r>
          </a:p>
        </p:txBody>
      </p:sp>
    </p:spTree>
    <p:extLst>
      <p:ext uri="{BB962C8B-B14F-4D97-AF65-F5344CB8AC3E}">
        <p14:creationId xmlns:p14="http://schemas.microsoft.com/office/powerpoint/2010/main" val="162752361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136</TotalTime>
  <Words>2001</Words>
  <Application>Microsoft Office PowerPoint</Application>
  <PresentationFormat>Widescreen</PresentationFormat>
  <Paragraphs>189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Times New Roman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Girish B</dc:creator>
  <cp:lastModifiedBy>Girish B</cp:lastModifiedBy>
  <cp:revision>1</cp:revision>
  <dcterms:created xsi:type="dcterms:W3CDTF">2025-12-29T14:56:05Z</dcterms:created>
  <dcterms:modified xsi:type="dcterms:W3CDTF">2025-12-29T17:12:18Z</dcterms:modified>
</cp:coreProperties>
</file>